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ender-analysis-project/gender-analysis-readme/assets/pca_country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782683"/>
            <a:ext cx="4617720" cy="29725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40080"/>
            <a:ext cx="5669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PORTFOLIO PROJECT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94360" y="1188720"/>
            <a:ext cx="6217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Attitudes Toward Violence Against Women and Girls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2770632"/>
            <a:ext cx="5715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cross-country statistical and unsupervised-learning analysis of demographic and social patterns in aggregated survey estimates.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40080" y="3913632"/>
            <a:ext cx="1143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40080" y="4352544"/>
            <a:ext cx="11430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057400" y="3913632"/>
            <a:ext cx="1234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12.6k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2057400" y="4352544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566160" y="3913632"/>
            <a:ext cx="1325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973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5+1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566160" y="4352544"/>
            <a:ext cx="13258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violence measures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74920" y="3913632"/>
            <a:ext cx="15544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87.9%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074920" y="4352544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explained by PC1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5943600"/>
            <a:ext cx="5669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B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inference • Adjusted regression • PCA • K-Means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question is not “can we model it?”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is: what can this data honestly support?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5394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analyzes reported percentages of respondents who justify violence against women under specific scenarios. The challenge is methodological: the rows are aggregate subgroup estimates, not individual people.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53949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demographic and scenario-level patterns
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causal overclaiming from observational aggregates
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statistics and unsupervised learning where defensible
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predictive modelling when the target and features are structurally weak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280160"/>
            <a:ext cx="4389120" cy="420624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C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is not respondent-level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2148840"/>
            <a:ext cx="34747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is a percentage for one country, gender, scenario and one demographic subgroup.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framing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3703320"/>
            <a:ext cx="3520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associations and profiles; do not pretend to forecast individuals.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AUDIT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structure shaped every modelling choice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5394960" cy="434340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analytical row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× Survey year × Scenario × Gender × One demographic subgroup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297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demographic dimensions are alternative stratifications — not jointly observed features on the same respondent.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297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102352"/>
            <a:ext cx="4297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per RecordID = 2 genders × 15 demographic responses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4937760" cy="4343400"/>
          </a:xfrm>
          <a:prstGeom prst="rect">
            <a:avLst/>
          </a:prstGeom>
          <a:solidFill>
            <a:srgbClr val="101C30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12280" y="2331720"/>
            <a:ext cx="41605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 rows do not also contain age, employment, residence and marital status.
</a:t>
            </a:r>
            <a:pPr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“full feature” prediction model would manufacture fake combinations.
</a:t>
            </a:r>
            <a:pPr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adjusted models preserve the real data-generating structure.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6812280" y="498348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Methodological discipline &gt; algorithm decoration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Workflow: from audit to defensible insight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1691640" cy="2514600"/>
          </a:xfrm>
          <a:prstGeom prst="roundRect">
            <a:avLst>
              <a:gd name="adj" fmla="val 6486"/>
            </a:avLst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audit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04672" y="3063240"/>
            <a:ext cx="1399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shape, missingness, row meaning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2578608" y="1874520"/>
            <a:ext cx="1691640" cy="2514600"/>
          </a:xfrm>
          <a:prstGeom prst="roundRect">
            <a:avLst>
              <a:gd name="adj" fmla="val 6486"/>
            </a:avLst>
          </a:prstGeom>
          <a:solidFill>
            <a:srgbClr val="13243C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2491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724912" y="3063240"/>
            <a:ext cx="1399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country, scenario &amp; demographics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498848" y="1874520"/>
            <a:ext cx="1691640" cy="2514600"/>
          </a:xfrm>
          <a:prstGeom prst="roundRect">
            <a:avLst>
              <a:gd name="adj" fmla="val 6486"/>
            </a:avLst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4515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45152" y="3063240"/>
            <a:ext cx="1399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Friedman + Wilcoxon + effects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419088" y="1874520"/>
            <a:ext cx="1691640" cy="2514600"/>
          </a:xfrm>
          <a:prstGeom prst="roundRect">
            <a:avLst>
              <a:gd name="adj" fmla="val 6486"/>
            </a:avLst>
          </a:prstGeom>
          <a:solidFill>
            <a:srgbClr val="13243C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6539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models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65392" y="3063240"/>
            <a:ext cx="1399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country-clustered inference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339328" y="1874520"/>
            <a:ext cx="1691640" cy="2514600"/>
          </a:xfrm>
          <a:prstGeom prst="roundRect">
            <a:avLst>
              <a:gd name="adj" fmla="val 6486"/>
            </a:avLst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8563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85632" y="3063240"/>
            <a:ext cx="1399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+ PCA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10259568" y="1874520"/>
            <a:ext cx="1691640" cy="2514600"/>
          </a:xfrm>
          <a:prstGeom prst="roundRect">
            <a:avLst>
              <a:gd name="adj" fmla="val 6486"/>
            </a:avLst>
          </a:prstGeom>
          <a:solidFill>
            <a:srgbClr val="13243C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0587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05872" y="2560320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405872" y="3063240"/>
            <a:ext cx="13990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&amp; sensitivity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91440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C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black-box prediction: the methods match the data structure.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Violence-justification scenarios are not interchangeable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05</a:t>
            </a:r>
            <a:endParaRPr lang="en-US" sz="900" dirty="0"/>
          </a:p>
        </p:txBody>
      </p:sp>
      <p:pic>
        <p:nvPicPr>
          <p:cNvPr id="7" name="Image 0" descr="/mnt/data/scenario_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73939"/>
            <a:ext cx="5852160" cy="33558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417320"/>
            <a:ext cx="4389120" cy="416052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178308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178.01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223760" y="2221992"/>
            <a:ext cx="1828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Friedman statistic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372600" y="178308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2.0e-37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9372600" y="2221992"/>
            <a:ext cx="1828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23760" y="297180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0.664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223760" y="3410712"/>
            <a:ext cx="1828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Kendall's W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72600" y="297180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973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9/10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9372600" y="3410712"/>
            <a:ext cx="1828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pairwise differences significant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223760" y="4389120"/>
            <a:ext cx="3703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Neglecting children was the highest-valued specific scenario in 48 of 70 countries. Burning food was never the highest-valued specific scenario.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REGRESSION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and residence dominate the adjusted demographic 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06</a:t>
            </a:r>
            <a:endParaRPr lang="en-US" sz="900" dirty="0"/>
          </a:p>
        </p:txBody>
      </p:sp>
      <p:pic>
        <p:nvPicPr>
          <p:cNvPr id="7" name="Image 0" descr="/mnt/data/gender-analysis-project/gender-analysis-readme/assets/adjusted_demographic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51" y="1207008"/>
            <a:ext cx="6970937" cy="5212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371600"/>
            <a:ext cx="3383280" cy="452628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adjusted effects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58200" y="2240280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73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−16.42pp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458200" y="267919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vs no education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58200" y="3383280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−7.40pp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58200" y="382219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vs rural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45820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inference uses country-clustered standard errors with country, gender and scenario controls.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 INTERACTION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education gradient is visible in both gender groups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07</a:t>
            </a:r>
            <a:endParaRPr lang="en-US" sz="900" dirty="0"/>
          </a:p>
        </p:txBody>
      </p:sp>
      <p:pic>
        <p:nvPicPr>
          <p:cNvPr id="7" name="Image 0" descr="/mnt/data/gender-analysis-project/gender-analysis-readme/assets/education_g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14823"/>
            <a:ext cx="6400800" cy="39769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463040"/>
            <a:ext cx="3977640" cy="434340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18120" y="2423160"/>
            <a:ext cx="32461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values decline steadily as education rises.
</a:t>
            </a:r>
            <a:pPr indent="0" marL="0">
              <a:buNone/>
            </a:pPr>
            <a:r>
              <a:rPr lang="en-US" sz="142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female–male gap narrows at higher education levels.
</a:t>
            </a:r>
            <a:pPr indent="0" marL="0">
              <a:buNone/>
            </a:pPr>
            <a:r>
              <a:rPr lang="en-US" sz="142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pattern survives adjustment and sensitivity checks.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7818120" y="4709160"/>
            <a:ext cx="3291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overclaim causality.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18120" y="5074920"/>
            <a:ext cx="3246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an association among aggregate subgroup estimates.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 PATTERNS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Gender gaps appear across every scenario — with a caveat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08</a:t>
            </a:r>
            <a:endParaRPr lang="en-US" sz="900" dirty="0"/>
          </a:p>
        </p:txBody>
      </p:sp>
      <p:pic>
        <p:nvPicPr>
          <p:cNvPr id="7" name="Image 0" descr="/mnt/data/gender-analysis-project/gender-analysis-readme/assets/gender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36765"/>
            <a:ext cx="6492240" cy="30587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417320"/>
            <a:ext cx="4069080" cy="448056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83080"/>
            <a:ext cx="3291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+7.04pp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818120" y="2221992"/>
            <a:ext cx="32918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female-minus-male gap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18120" y="2788920"/>
            <a:ext cx="3291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+8.02pp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7818120" y="3227832"/>
            <a:ext cx="32918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gap: refusal of sex scenario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1812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4343400"/>
            <a:ext cx="3246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 observations have substantially more missing values, so this is reported as a descriptive aggregate pattern, not a population-level claim about individuals.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CLUSTERING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Country profiles form broad response patterns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09</a:t>
            </a:r>
            <a:endParaRPr lang="en-US" sz="900" dirty="0"/>
          </a:p>
        </p:txBody>
      </p:sp>
      <p:pic>
        <p:nvPicPr>
          <p:cNvPr id="7" name="Image 0" descr="/mnt/data/gender-analysis-project/gender-analysis-readme/assets/cluster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91488"/>
            <a:ext cx="6812280" cy="41779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417320"/>
            <a:ext cx="3429000" cy="434340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783080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= 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138160" y="2221992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using silhouette + interpretability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138160" y="2834640"/>
            <a:ext cx="27432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 / 24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138160" y="3273552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split among 67 complete profiles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38160" y="3977640"/>
            <a:ext cx="2743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1 is higher across all five scenarios. A k=3 sensitivity check shows lower, intermediate and higher profiles — suggesting a continuum more than hard country “types.”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DIMENSIONALITY REDUCTION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reveals one dominant cross-country dimension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10</a:t>
            </a:r>
            <a:endParaRPr lang="en-US" sz="900" dirty="0"/>
          </a:p>
        </p:txBody>
      </p:sp>
      <p:pic>
        <p:nvPicPr>
          <p:cNvPr id="7" name="Image 0" descr="/mnt/data/gender-analysis-project/gender-analysis-readme/assets/pca_country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3674"/>
            <a:ext cx="6492240" cy="41792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371600"/>
            <a:ext cx="3794760" cy="461772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1737360"/>
            <a:ext cx="3108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87.86%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863840" y="2176272"/>
            <a:ext cx="3108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explained by PC1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0" y="2788920"/>
            <a:ext cx="3108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92.48%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863840" y="3227832"/>
            <a:ext cx="3108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explained by PC1 + PC2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63840" y="3977640"/>
            <a:ext cx="29718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five scenarios load positively and almost equally on PC1. The cluster separation largely reflects position along this overall violence-justification continuum.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INTEGRITY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mattered more than flashy prediction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11</a:t>
            </a:r>
            <a:endParaRPr lang="en-US" sz="900" dirty="0"/>
          </a:p>
        </p:txBody>
      </p:sp>
      <p:pic>
        <p:nvPicPr>
          <p:cNvPr id="7" name="Image 0" descr="/mnt/data/Residuals vs Fitted Values - Education 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64337"/>
            <a:ext cx="5166360" cy="34287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1325880"/>
            <a:ext cx="5212080" cy="448056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stress-tested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37960" y="2194560"/>
            <a:ext cx="43434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Country-clustered standard errors are the primary inference method.
</a:t>
            </a:r>
            <a:pPr indent="0" marL="0">
              <a:buNone/>
            </a:pPr>
            <a:r>
              <a:rPr lang="en-US" sz="134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HC3 robust inference preserved education conclusions.
</a:t>
            </a:r>
            <a:pPr indent="0" marL="0">
              <a:buNone/>
            </a:pPr>
            <a:r>
              <a:rPr lang="en-US" sz="134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Cook's-distance sensitivity kept the education gradient intact.
</a:t>
            </a:r>
            <a:pPr indent="0" marL="0">
              <a:buNone/>
            </a:pPr>
            <a:r>
              <a:rPr lang="en-US" sz="134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prediction was rejected because the rows are aggregate subgroup estimates.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653796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point: use the method the data deserve.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line: strong patterns, careful interpretation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3142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105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B0"/>
                </a:solidFill>
              </a:rPr>
              <a:t>Aggregated survey estimates • 70 countries • subgroup-level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91B0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earns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53949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 is the strongest adjusted demographic gradient.
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Residence shows a large rural–urban difference.
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 differ systematically; neglecting children stands out.
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profiles mostly follow one common underlying dimension.
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are associations in aggregate survey estimates — not causal effects.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766560" y="1417320"/>
            <a:ext cx="4526280" cy="4251960"/>
          </a:xfrm>
          <a:prstGeom prst="rect">
            <a:avLst/>
          </a:prstGeom>
          <a:solidFill>
            <a:srgbClr val="111E33"/>
          </a:solidFill>
          <a:ln w="12700">
            <a:solidFill>
              <a:srgbClr val="2E4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signal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2423160"/>
            <a:ext cx="36576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demonstrates data judgement: it uses statistical models, PCA and clustering where appropriate — and explicitly avoids inappropriate supervised prediction.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C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deliverables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8660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README, final notebook, and stakeholder presentation.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8660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Attitudes Toward Violence Against Women and Girls</dc:title>
  <dc:subject>Gender Analysis Presentation</dc:subject>
  <dc:creator>OpenAI</dc:creator>
  <cp:lastModifiedBy>OpenAI</cp:lastModifiedBy>
  <cp:revision>1</cp:revision>
  <dcterms:created xsi:type="dcterms:W3CDTF">2026-10-13T13:10:14Z</dcterms:created>
  <dcterms:modified xsi:type="dcterms:W3CDTF">2026-10-13T13:10:14Z</dcterms:modified>
</cp:coreProperties>
</file>